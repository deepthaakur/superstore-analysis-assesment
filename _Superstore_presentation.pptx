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2.xml"/><Relationship Id="rId5" Type="http://schemas.openxmlformats.org/officeDocument/2006/relationships/slide" Target="slide5.xml"/><Relationship Id="rId6" Type="http://schemas.openxmlformats.org/officeDocument/2006/relationships/slide" Target="slide7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2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7.xml"/><Relationship Id="rId3" Type="http://schemas.openxmlformats.org/officeDocument/2006/relationships/slide" Target="slide9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8.xml"/><Relationship Id="rId3" Type="http://schemas.openxmlformats.org/officeDocument/2006/relationships/slide" Target="slide10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9.xml"/><Relationship Id="rId3" Type="http://schemas.openxmlformats.org/officeDocument/2006/relationships/slide" Target="slide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Sales Analysis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Analyze sales, profit, discounts, customer segments, and regional performance to identify business opportunities and improve profitability.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›</a:t>
            </a:r>
            <a:endParaRPr lang="en-US" sz="1300" dirty="0"/>
          </a:p>
        </p:txBody>
      </p:sp>
      <p:sp>
        <p:nvSpPr>
          <p:cNvPr id="6" name="Shape 4">
            <a:hlinkClick r:id="rId1" tooltip="Start ›" action="ppaction://hlinksldjump"/>
          </p:cNvPr>
          <p:cNvSpPr/>
          <p:nvPr/>
        </p:nvSpPr>
        <p:spPr>
          <a:xfrm>
            <a:off x="640080" y="4846320"/>
            <a:ext cx="18288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card to jump to that section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373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900" dirty="0"/>
          </a:p>
        </p:txBody>
      </p:sp>
      <p:sp>
        <p:nvSpPr>
          <p:cNvPr id="7" name="Shape 5">
            <a:hlinkClick r:id="rId1" tooltip="Data &amp; Methodology" action="ppaction://hlinksldjump"/>
          </p:cNvPr>
          <p:cNvSpPr/>
          <p:nvPr/>
        </p:nvSpPr>
        <p:spPr>
          <a:xfrm>
            <a:off x="457200" y="1737360"/>
            <a:ext cx="4023360" cy="12801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73736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73736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7373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900" dirty="0"/>
          </a:p>
        </p:txBody>
      </p:sp>
      <p:sp>
        <p:nvSpPr>
          <p:cNvPr id="11" name="Shape 9">
            <a:hlinkClick r:id="rId2" tooltip="Key Findings" action="ppaction://hlinksldjump"/>
          </p:cNvPr>
          <p:cNvSpPr/>
          <p:nvPr/>
        </p:nvSpPr>
        <p:spPr>
          <a:xfrm>
            <a:off x="4663440" y="1737360"/>
            <a:ext cx="4023360" cy="12801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24612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24612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46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Profit</a:t>
            </a:r>
            <a:endParaRPr lang="en-US" sz="1900" dirty="0"/>
          </a:p>
        </p:txBody>
      </p:sp>
      <p:sp>
        <p:nvSpPr>
          <p:cNvPr id="15" name="Shape 13">
            <a:hlinkClick r:id="rId3" tooltip="Discount vs Profit" action="ppaction://hlinksldjump"/>
          </p:cNvPr>
          <p:cNvSpPr/>
          <p:nvPr/>
        </p:nvSpPr>
        <p:spPr>
          <a:xfrm>
            <a:off x="457200" y="3246120"/>
            <a:ext cx="4023360" cy="12801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324612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24612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246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900" dirty="0"/>
          </a:p>
        </p:txBody>
      </p:sp>
      <p:sp>
        <p:nvSpPr>
          <p:cNvPr id="19" name="Shape 17">
            <a:hlinkClick r:id="rId4" tooltip="Recommendations" action="ppaction://hlinksldjump"/>
          </p:cNvPr>
          <p:cNvSpPr/>
          <p:nvPr/>
        </p:nvSpPr>
        <p:spPr>
          <a:xfrm>
            <a:off x="4663440" y="3246120"/>
            <a:ext cx="4023360" cy="12801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75488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75488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754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900" dirty="0"/>
          </a:p>
        </p:txBody>
      </p:sp>
      <p:sp>
        <p:nvSpPr>
          <p:cNvPr id="23" name="Shape 21">
            <a:hlinkClick r:id="rId5" tooltip="Expected Impact" action="ppaction://hlinksldjump"/>
          </p:cNvPr>
          <p:cNvSpPr/>
          <p:nvPr/>
        </p:nvSpPr>
        <p:spPr>
          <a:xfrm>
            <a:off x="457200" y="4754880"/>
            <a:ext cx="4023360" cy="12801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75488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475488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4754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900" dirty="0"/>
          </a:p>
        </p:txBody>
      </p:sp>
      <p:sp>
        <p:nvSpPr>
          <p:cNvPr id="27" name="Shape 25">
            <a:hlinkClick r:id="rId6" tooltip="Limitations &amp; Next Steps" action="ppaction://hlinksldjump"/>
          </p:cNvPr>
          <p:cNvSpPr/>
          <p:nvPr/>
        </p:nvSpPr>
        <p:spPr>
          <a:xfrm>
            <a:off x="4663440" y="4754880"/>
            <a:ext cx="4023360" cy="12801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51,290 records · 27 columns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77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77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duplicates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 columns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outliers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300" dirty="0"/>
          </a:p>
        </p:txBody>
      </p:sp>
      <p:sp>
        <p:nvSpPr>
          <p:cNvPr id="14" name="Shape 12">
            <a:hlinkClick r:id="rId1" tooltip="Menu" action="ppaction://hlinksldjump"/>
          </p:cNvPr>
          <p:cNvSpPr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85216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Prev</a:t>
            </a:r>
            <a:endParaRPr lang="en-US" sz="1300" dirty="0"/>
          </a:p>
        </p:txBody>
      </p:sp>
      <p:sp>
        <p:nvSpPr>
          <p:cNvPr id="17" name="Shape 15">
            <a:hlinkClick r:id="rId2" tooltip="‹ Prev" action="ppaction://hlinksldjump"/>
          </p:cNvPr>
          <p:cNvSpPr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›</a:t>
            </a:r>
            <a:endParaRPr lang="en-US" sz="1300" dirty="0"/>
          </a:p>
        </p:txBody>
      </p:sp>
      <p:sp>
        <p:nvSpPr>
          <p:cNvPr id="20" name="Shape 18">
            <a:hlinkClick r:id="rId3" tooltip="Next ›" action="ppaction://hlinksldjump"/>
          </p:cNvPr>
          <p:cNvSpPr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11680" y="6263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1848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generated the highest sales and profit.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3774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generated the highest sales and profit.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4728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918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contributed the highest revenue.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361688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206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discounts reduced profitability.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27608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1206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increased consistently from 2011 to 2014.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300" dirty="0"/>
          </a:p>
        </p:txBody>
      </p:sp>
      <p:sp>
        <p:nvSpPr>
          <p:cNvPr id="25" name="Shape 23">
            <a:hlinkClick r:id="rId1" tooltip="Menu" action="ppaction://hlinksldjump"/>
          </p:cNvPr>
          <p:cNvSpPr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85216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Prev</a:t>
            </a:r>
            <a:endParaRPr lang="en-US" sz="1300" dirty="0"/>
          </a:p>
        </p:txBody>
      </p:sp>
      <p:sp>
        <p:nvSpPr>
          <p:cNvPr id="28" name="Shape 26">
            <a:hlinkClick r:id="rId2" tooltip="‹ Prev" action="ppaction://hlinksldjump"/>
          </p:cNvPr>
          <p:cNvSpPr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›</a:t>
            </a:r>
            <a:endParaRPr lang="en-US" sz="1300" dirty="0"/>
          </a:p>
        </p:txBody>
      </p:sp>
      <p:sp>
        <p:nvSpPr>
          <p:cNvPr id="31" name="Shape 29">
            <a:hlinkClick r:id="rId3" tooltip="Next ›" action="ppaction://hlinksldjump"/>
          </p:cNvPr>
          <p:cNvSpPr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011680" y="6263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– Discount vs Profit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300" dirty="0"/>
          </a:p>
        </p:txBody>
      </p:sp>
      <p:sp>
        <p:nvSpPr>
          <p:cNvPr id="5" name="Shape 3">
            <a:hlinkClick r:id="rId1" tooltip="Finding" action="ppaction://hlinksldjump"/>
          </p:cNvPr>
          <p:cNvSpPr/>
          <p:nvPr/>
        </p:nvSpPr>
        <p:spPr>
          <a:xfrm>
            <a:off x="457200" y="1371600"/>
            <a:ext cx="1965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13716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8" name="Shape 6">
            <a:hlinkClick r:id="rId2" tooltip="Business Impact" action="ppaction://hlinksldjump"/>
          </p:cNvPr>
          <p:cNvSpPr/>
          <p:nvPr/>
        </p:nvSpPr>
        <p:spPr>
          <a:xfrm>
            <a:off x="2560320" y="1371600"/>
            <a:ext cx="1965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716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1" name="Shape 9">
            <a:hlinkClick r:id="rId3" tooltip="Recommendation" action="ppaction://hlinksldjump"/>
          </p:cNvPr>
          <p:cNvSpPr/>
          <p:nvPr/>
        </p:nvSpPr>
        <p:spPr>
          <a:xfrm>
            <a:off x="4663440" y="1371600"/>
            <a:ext cx="1965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03120"/>
            <a:ext cx="8229600" cy="356616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10896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discounts (50%–85%) resulted in negative average profit.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300" dirty="0"/>
          </a:p>
        </p:txBody>
      </p:sp>
      <p:sp>
        <p:nvSpPr>
          <p:cNvPr id="17" name="Shape 15">
            <a:hlinkClick r:id="rId4" tooltip="Menu" action="ppaction://hlinksldjump"/>
          </p:cNvPr>
          <p:cNvSpPr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Prev</a:t>
            </a:r>
            <a:endParaRPr lang="en-US" sz="1300" dirty="0"/>
          </a:p>
        </p:txBody>
      </p:sp>
      <p:sp>
        <p:nvSpPr>
          <p:cNvPr id="20" name="Shape 18">
            <a:hlinkClick r:id="rId5" tooltip="‹ Prev" action="ppaction://hlinksldjump"/>
          </p:cNvPr>
          <p:cNvSpPr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›</a:t>
            </a:r>
            <a:endParaRPr lang="en-US" sz="1300" dirty="0"/>
          </a:p>
        </p:txBody>
      </p:sp>
      <p:sp>
        <p:nvSpPr>
          <p:cNvPr id="23" name="Shape 21">
            <a:hlinkClick r:id="rId6" tooltip="Next ›" action="ppaction://hlinksldjump"/>
          </p:cNvPr>
          <p:cNvSpPr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011680" y="6263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– Discount vs Profit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300" dirty="0"/>
          </a:p>
        </p:txBody>
      </p:sp>
      <p:sp>
        <p:nvSpPr>
          <p:cNvPr id="5" name="Shape 3">
            <a:hlinkClick r:id="rId1" tooltip="Finding" action="ppaction://hlinksldjump"/>
          </p:cNvPr>
          <p:cNvSpPr/>
          <p:nvPr/>
        </p:nvSpPr>
        <p:spPr>
          <a:xfrm>
            <a:off x="457200" y="1371600"/>
            <a:ext cx="1965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13716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8" name="Shape 6">
            <a:hlinkClick r:id="rId2" tooltip="Business Impact" action="ppaction://hlinksldjump"/>
          </p:cNvPr>
          <p:cNvSpPr/>
          <p:nvPr/>
        </p:nvSpPr>
        <p:spPr>
          <a:xfrm>
            <a:off x="2560320" y="1371600"/>
            <a:ext cx="1965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716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1" name="Shape 9">
            <a:hlinkClick r:id="rId3" tooltip="Recommendation" action="ppaction://hlinksldjump"/>
          </p:cNvPr>
          <p:cNvSpPr/>
          <p:nvPr/>
        </p:nvSpPr>
        <p:spPr>
          <a:xfrm>
            <a:off x="4663440" y="1371600"/>
            <a:ext cx="1965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03120"/>
            <a:ext cx="8229600" cy="356616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10896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discounting increases losses and reduces profitability.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300" dirty="0"/>
          </a:p>
        </p:txBody>
      </p:sp>
      <p:sp>
        <p:nvSpPr>
          <p:cNvPr id="17" name="Shape 15">
            <a:hlinkClick r:id="rId4" tooltip="Menu" action="ppaction://hlinksldjump"/>
          </p:cNvPr>
          <p:cNvSpPr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Prev</a:t>
            </a:r>
            <a:endParaRPr lang="en-US" sz="1300" dirty="0"/>
          </a:p>
        </p:txBody>
      </p:sp>
      <p:sp>
        <p:nvSpPr>
          <p:cNvPr id="20" name="Shape 18">
            <a:hlinkClick r:id="rId5" tooltip="‹ Prev" action="ppaction://hlinksldjump"/>
          </p:cNvPr>
          <p:cNvSpPr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›</a:t>
            </a:r>
            <a:endParaRPr lang="en-US" sz="1300" dirty="0"/>
          </a:p>
        </p:txBody>
      </p:sp>
      <p:sp>
        <p:nvSpPr>
          <p:cNvPr id="23" name="Shape 21">
            <a:hlinkClick r:id="rId6" tooltip="Next ›" action="ppaction://hlinksldjump"/>
          </p:cNvPr>
          <p:cNvSpPr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011680" y="6263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– Discount vs Profit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300" dirty="0"/>
          </a:p>
        </p:txBody>
      </p:sp>
      <p:sp>
        <p:nvSpPr>
          <p:cNvPr id="5" name="Shape 3">
            <a:hlinkClick r:id="rId1" tooltip="Finding" action="ppaction://hlinksldjump"/>
          </p:cNvPr>
          <p:cNvSpPr/>
          <p:nvPr/>
        </p:nvSpPr>
        <p:spPr>
          <a:xfrm>
            <a:off x="457200" y="1371600"/>
            <a:ext cx="1965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13716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8" name="Shape 6">
            <a:hlinkClick r:id="rId2" tooltip="Business Impact" action="ppaction://hlinksldjump"/>
          </p:cNvPr>
          <p:cNvSpPr/>
          <p:nvPr/>
        </p:nvSpPr>
        <p:spPr>
          <a:xfrm>
            <a:off x="2560320" y="1371600"/>
            <a:ext cx="1965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716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1" name="Shape 9">
            <a:hlinkClick r:id="rId3" tooltip="Recommendation" action="ppaction://hlinksldjump"/>
          </p:cNvPr>
          <p:cNvSpPr/>
          <p:nvPr/>
        </p:nvSpPr>
        <p:spPr>
          <a:xfrm>
            <a:off x="4663440" y="1371600"/>
            <a:ext cx="1965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03120"/>
            <a:ext cx="8229600" cy="356616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10896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 for highly discounted products.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300" dirty="0"/>
          </a:p>
        </p:txBody>
      </p:sp>
      <p:sp>
        <p:nvSpPr>
          <p:cNvPr id="17" name="Shape 15">
            <a:hlinkClick r:id="rId4" tooltip="Menu" action="ppaction://hlinksldjump"/>
          </p:cNvPr>
          <p:cNvSpPr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Prev</a:t>
            </a:r>
            <a:endParaRPr lang="en-US" sz="1300" dirty="0"/>
          </a:p>
        </p:txBody>
      </p:sp>
      <p:sp>
        <p:nvSpPr>
          <p:cNvPr id="20" name="Shape 18">
            <a:hlinkClick r:id="rId5" tooltip="‹ Prev" action="ppaction://hlinksldjump"/>
          </p:cNvPr>
          <p:cNvSpPr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›</a:t>
            </a:r>
            <a:endParaRPr lang="en-US" sz="1300" dirty="0"/>
          </a:p>
        </p:txBody>
      </p:sp>
      <p:sp>
        <p:nvSpPr>
          <p:cNvPr id="23" name="Shape 21">
            <a:hlinkClick r:id="rId6" tooltip="Next ›" action="ppaction://hlinksldjump"/>
          </p:cNvPr>
          <p:cNvSpPr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011680" y="6263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1143000"/>
          </a:xfrm>
          <a:prstGeom prst="roundRect">
            <a:avLst>
              <a:gd name="adj" fmla="val 96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6459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discounts above 50%.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1143000"/>
          </a:xfrm>
          <a:prstGeom prst="roundRect">
            <a:avLst>
              <a:gd name="adj" fmla="val 96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1752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30175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investment in Technology products.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8229600" cy="1143000"/>
          </a:xfrm>
          <a:prstGeom prst="roundRect">
            <a:avLst>
              <a:gd name="adj" fmla="val 96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38912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3891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successful Central region sales strategies to weaker regions.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300" dirty="0"/>
          </a:p>
        </p:txBody>
      </p:sp>
      <p:sp>
        <p:nvSpPr>
          <p:cNvPr id="14" name="Shape 12">
            <a:hlinkClick r:id="rId1" tooltip="Menu" action="ppaction://hlinksldjump"/>
          </p:cNvPr>
          <p:cNvSpPr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85216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Prev</a:t>
            </a:r>
            <a:endParaRPr lang="en-US" sz="1300" dirty="0"/>
          </a:p>
        </p:txBody>
      </p:sp>
      <p:sp>
        <p:nvSpPr>
          <p:cNvPr id="17" name="Shape 15">
            <a:hlinkClick r:id="rId2" tooltip="‹ Prev" action="ppaction://hlinksldjump"/>
          </p:cNvPr>
          <p:cNvSpPr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›</a:t>
            </a:r>
            <a:endParaRPr lang="en-US" sz="1300" dirty="0"/>
          </a:p>
        </p:txBody>
      </p:sp>
      <p:sp>
        <p:nvSpPr>
          <p:cNvPr id="20" name="Shape 18">
            <a:hlinkClick r:id="rId3" tooltip="Next ›" action="ppaction://hlinksldjump"/>
          </p:cNvPr>
          <p:cNvSpPr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11680" y="6263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overall profitability.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regional sales growth.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retention.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inventory planning.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63440" y="155448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468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Profit Growth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300" dirty="0"/>
          </a:p>
        </p:txBody>
      </p:sp>
      <p:sp>
        <p:nvSpPr>
          <p:cNvPr id="11" name="Shape 9">
            <a:hlinkClick r:id="rId1" tooltip="Menu" action="ppaction://hlinksldjump"/>
          </p:cNvPr>
          <p:cNvSpPr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Prev</a:t>
            </a:r>
            <a:endParaRPr lang="en-US" sz="1300" dirty="0"/>
          </a:p>
        </p:txBody>
      </p:sp>
      <p:sp>
        <p:nvSpPr>
          <p:cNvPr id="14" name="Shape 12">
            <a:hlinkClick r:id="rId2" tooltip="‹ Prev" action="ppaction://hlinksldjump"/>
          </p:cNvPr>
          <p:cNvSpPr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›</a:t>
            </a:r>
            <a:endParaRPr lang="en-US" sz="1300" dirty="0"/>
          </a:p>
        </p:txBody>
      </p:sp>
      <p:sp>
        <p:nvSpPr>
          <p:cNvPr id="17" name="Shape 15">
            <a:hlinkClick r:id="rId3" tooltip="Next ›" action="ppaction://hlinksldjump"/>
          </p:cNvPr>
          <p:cNvSpPr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011680" y="6263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monthly date values were unavailable in the CSV export.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does not include marketing campaign or product cost information.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63440" y="155448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468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monthly trend analysis using original date data.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lifetime value and marketing performance.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300" dirty="0"/>
          </a:p>
        </p:txBody>
      </p:sp>
      <p:sp>
        <p:nvSpPr>
          <p:cNvPr id="11" name="Shape 9">
            <a:hlinkClick r:id="rId1" tooltip="Menu" action="ppaction://hlinksldjump"/>
          </p:cNvPr>
          <p:cNvSpPr/>
          <p:nvPr/>
        </p:nvSpPr>
        <p:spPr>
          <a:xfrm>
            <a:off x="457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Prev</a:t>
            </a:r>
            <a:endParaRPr lang="en-US" sz="1300" dirty="0"/>
          </a:p>
        </p:txBody>
      </p:sp>
      <p:sp>
        <p:nvSpPr>
          <p:cNvPr id="14" name="Shape 12">
            <a:hlinkClick r:id="rId2" tooltip="‹ Prev" action="ppaction://hlinksldjump"/>
          </p:cNvPr>
          <p:cNvSpPr/>
          <p:nvPr/>
        </p:nvSpPr>
        <p:spPr>
          <a:xfrm>
            <a:off x="585216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6263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›</a:t>
            </a:r>
            <a:endParaRPr lang="en-US" sz="1300" dirty="0"/>
          </a:p>
        </p:txBody>
      </p:sp>
      <p:sp>
        <p:nvSpPr>
          <p:cNvPr id="17" name="Shape 15">
            <a:hlinkClick r:id="rId3" tooltip="Menu ›" action="ppaction://hlinksldjump"/>
          </p:cNvPr>
          <p:cNvSpPr/>
          <p:nvPr/>
        </p:nvSpPr>
        <p:spPr>
          <a:xfrm>
            <a:off x="7315200" y="6263640"/>
            <a:ext cx="1371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011680" y="6263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2026-09-24T17:10:18Z</dcterms:created>
  <dcterms:modified xsi:type="dcterms:W3CDTF">2026-09-24T17:10:18Z</dcterms:modified>
</cp:coreProperties>
</file>